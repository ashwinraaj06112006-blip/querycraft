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a10301c34645e0" /><Relationship Type="http://schemas.openxmlformats.org/officeDocument/2006/relationships/extended-properties" Target="/docProps/app.xml" Id="R456f1a8c580d4390" /><Relationship Type="http://schemas.openxmlformats.org/officeDocument/2006/relationships/officeDocument" Target="/ppt/presentation.xml" Id="R9cc4946bce984f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126071d5fe44df"/>
  </p:sldMasterIdLst>
  <p:notesMasterIdLst>
    <p:notesMasterId xmlns:r="http://schemas.openxmlformats.org/officeDocument/2006/relationships" r:id="R694d7cdc62fe4861"/>
  </p:notesMasterIdLst>
  <p:sldIdLst>
    <p:sldId xmlns:r="http://schemas.openxmlformats.org/officeDocument/2006/relationships" id="256" r:id="R1bcaf439d65c433e"/>
    <p:sldId xmlns:r="http://schemas.openxmlformats.org/officeDocument/2006/relationships" id="257" r:id="R5a9fbf17748545fa"/>
    <p:sldId xmlns:r="http://schemas.openxmlformats.org/officeDocument/2006/relationships" id="258" r:id="Rdd205db988f2475e"/>
    <p:sldId xmlns:r="http://schemas.openxmlformats.org/officeDocument/2006/relationships" id="259" r:id="R84422190d5664cb5"/>
    <p:sldId xmlns:r="http://schemas.openxmlformats.org/officeDocument/2006/relationships" id="260" r:id="Rbe6bd5e516f94e7d"/>
    <p:sldId xmlns:r="http://schemas.openxmlformats.org/officeDocument/2006/relationships" id="261" r:id="R173f42a0ad6c48b0"/>
    <p:sldId xmlns:r="http://schemas.openxmlformats.org/officeDocument/2006/relationships" id="262" r:id="R36cd39a937b2434e"/>
    <p:sldId xmlns:r="http://schemas.openxmlformats.org/officeDocument/2006/relationships" id="263" r:id="R91a857f331624331"/>
    <p:sldId xmlns:r="http://schemas.openxmlformats.org/officeDocument/2006/relationships" id="264" r:id="Rf633ea659c9e47ca"/>
    <p:sldId xmlns:r="http://schemas.openxmlformats.org/officeDocument/2006/relationships" id="265" r:id="R06dbea9086c645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5d7f8ef43442f0" /><Relationship Type="http://schemas.openxmlformats.org/officeDocument/2006/relationships/slideMaster" Target="/ppt/slideMasters/slideMaster1.xml" Id="R04126071d5fe44df" /><Relationship Type="http://schemas.openxmlformats.org/officeDocument/2006/relationships/notesMaster" Target="/ppt/notesMasters/notesMaster1.xml" Id="R694d7cdc62fe4861" /><Relationship Type="http://schemas.openxmlformats.org/officeDocument/2006/relationships/presProps" Target="/ppt/presProps.xml" Id="Rccbffa9babfd4287" /><Relationship Type="http://schemas.openxmlformats.org/officeDocument/2006/relationships/tableStyles" Target="/ppt/tableStyles.xml" Id="R4f149963719c4b86" /><Relationship Type="http://schemas.openxmlformats.org/officeDocument/2006/relationships/slide" Target="/ppt/slides/slide1.xml" Id="R1bcaf439d65c433e" /><Relationship Type="http://schemas.openxmlformats.org/officeDocument/2006/relationships/slide" Target="/ppt/slides/slide2.xml" Id="R5a9fbf17748545fa" /><Relationship Type="http://schemas.openxmlformats.org/officeDocument/2006/relationships/slide" Target="/ppt/slides/slide3.xml" Id="Rdd205db988f2475e" /><Relationship Type="http://schemas.openxmlformats.org/officeDocument/2006/relationships/slide" Target="/ppt/slides/slide4.xml" Id="R84422190d5664cb5" /><Relationship Type="http://schemas.openxmlformats.org/officeDocument/2006/relationships/slide" Target="/ppt/slides/slide5.xml" Id="Rbe6bd5e516f94e7d" /><Relationship Type="http://schemas.openxmlformats.org/officeDocument/2006/relationships/slide" Target="/ppt/slides/slide6.xml" Id="R173f42a0ad6c48b0" /><Relationship Type="http://schemas.openxmlformats.org/officeDocument/2006/relationships/slide" Target="/ppt/slides/slide7.xml" Id="R36cd39a937b2434e" /><Relationship Type="http://schemas.openxmlformats.org/officeDocument/2006/relationships/slide" Target="/ppt/slides/slide8.xml" Id="R91a857f331624331" /><Relationship Type="http://schemas.openxmlformats.org/officeDocument/2006/relationships/slide" Target="/ppt/slides/slide9.xml" Id="Rf633ea659c9e47ca" /><Relationship Type="http://schemas.openxmlformats.org/officeDocument/2006/relationships/slide" Target="/ppt/slides/slide10.xml" Id="R06dbea9086c645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bbd8626fd64c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57ce5d55d44db" /><Relationship Type="http://schemas.openxmlformats.org/officeDocument/2006/relationships/notesMaster" Target="/ppt/notesMasters/notesMaster1.xml" Id="R446e8541dd4344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241c857ce84c84" /><Relationship Type="http://schemas.openxmlformats.org/officeDocument/2006/relationships/notesMaster" Target="/ppt/notesMasters/notesMaster1.xml" Id="R2c8890cf28a944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0c3506064049e7" /><Relationship Type="http://schemas.openxmlformats.org/officeDocument/2006/relationships/notesMaster" Target="/ppt/notesMasters/notesMaster1.xml" Id="Rb2d78c94571049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3b11df981e4302" /><Relationship Type="http://schemas.openxmlformats.org/officeDocument/2006/relationships/notesMaster" Target="/ppt/notesMasters/notesMaster1.xml" Id="Reb1c732ec8fd43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4c4464be28448b" /><Relationship Type="http://schemas.openxmlformats.org/officeDocument/2006/relationships/notesMaster" Target="/ppt/notesMasters/notesMaster1.xml" Id="R3c51d36fef0741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a5e0595282408f" /><Relationship Type="http://schemas.openxmlformats.org/officeDocument/2006/relationships/notesMaster" Target="/ppt/notesMasters/notesMaster1.xml" Id="R085d8761d8214a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9c5391a1c440c5" /><Relationship Type="http://schemas.openxmlformats.org/officeDocument/2006/relationships/notesMaster" Target="/ppt/notesMasters/notesMaster1.xml" Id="Rd3eabc6986fd49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9eaa15a25e4108" /><Relationship Type="http://schemas.openxmlformats.org/officeDocument/2006/relationships/notesMaster" Target="/ppt/notesMasters/notesMaster1.xml" Id="Rb2c745a54b284d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b07707d0d84ae8" /><Relationship Type="http://schemas.openxmlformats.org/officeDocument/2006/relationships/notesMaster" Target="/ppt/notesMasters/notesMaster1.xml" Id="R07d78ea46af743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aac80a9ad64e63" /><Relationship Type="http://schemas.openxmlformats.org/officeDocument/2006/relationships/notesMaster" Target="/ppt/notesMasters/notesMaster1.xml" Id="R09a83ae9250544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QueryCraft as a controlled-language compiler project. It does not use LLMs, ML models, NLP frameworks, or external AI APIs.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project does not claim unrestricted natural-language understanding. The input language is intentionally restricted.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is a problem-definition, system-design, and initial-prototype stage. Full expansion belongs to later phases.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pipeline. The symbol table gives data types and valid attribute names. The error handler receives failures from lexer, parser, and semantic analyzer.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a preliminary EBNF-style grammar. Only supported vocabulary and grammar patterns reach the parser.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AST separates source syntax from SQL. This makes validation and generation systematic.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Clearly distinguish syntax and semantics: syntax checks grammar order; semantics checks meaning against the schema and types.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actual command in the terminal during the review. The README lists three prepared demo commands, including a semantic-error case.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only verified results. The local test suite ran successfully with 13 tests. Do not claim performance or database execution results that were not measured.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emphasizing that the design is realistic for an individual project and naturally extensible. Invite questions about any module or test.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87a47df6743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57afacd3c84377" /><Relationship Type="http://schemas.openxmlformats.org/officeDocument/2006/relationships/slideLayout" Target="/ppt/slideLayouts/slideLayout1.xml" Id="R5ac7853f608740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c7853f608740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d006366c64552" /><Relationship Type="http://schemas.openxmlformats.org/officeDocument/2006/relationships/image" Target="/ppt/media/image.png" Id="R57d8006e7ecf465f" /><Relationship Type="http://schemas.openxmlformats.org/officeDocument/2006/relationships/notesSlide" Target="/ppt/notesSlides/notesSlide1.xml" Id="R1bb04e3784d748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790c5e2e64b72" /><Relationship Type="http://schemas.openxmlformats.org/officeDocument/2006/relationships/notesSlide" Target="/ppt/notesSlides/notesSlide2.xml" Id="R3ce674cd05a641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474d0b2e44977" /><Relationship Type="http://schemas.openxmlformats.org/officeDocument/2006/relationships/notesSlide" Target="/ppt/notesSlides/notesSlide3.xml" Id="Rc62c8df07ae344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96ea7fa824379" /><Relationship Type="http://schemas.openxmlformats.org/officeDocument/2006/relationships/notesSlide" Target="/ppt/notesSlides/notesSlide4.xml" Id="R3ebfc1e6357540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2c672e6f9478b" /><Relationship Type="http://schemas.openxmlformats.org/officeDocument/2006/relationships/notesSlide" Target="/ppt/notesSlides/notesSlide5.xml" Id="Rf1f0991e09cd46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c7bc431934e14" /><Relationship Type="http://schemas.openxmlformats.org/officeDocument/2006/relationships/notesSlide" Target="/ppt/notesSlides/notesSlide6.xml" Id="Rb31c6a0d01744b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39bae09e144bf" /><Relationship Type="http://schemas.openxmlformats.org/officeDocument/2006/relationships/notesSlide" Target="/ppt/notesSlides/notesSlide7.xml" Id="Rd15170417e0e45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cbba8b7454bbd" /><Relationship Type="http://schemas.openxmlformats.org/officeDocument/2006/relationships/notesSlide" Target="/ppt/notesSlides/notesSlide8.xml" Id="R815cd9714b994d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cbde637844b87" /><Relationship Type="http://schemas.openxmlformats.org/officeDocument/2006/relationships/notesSlide" Target="/ppt/notesSlides/notesSlide9.xml" Id="R321658ea10d94b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e21173f96464d" /><Relationship Type="http://schemas.openxmlformats.org/officeDocument/2006/relationships/notesSlide" Target="/ppt/notesSlides/notesSlide10.xml" Id="Rac5ad719b9e249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8006e7ecf465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A9AAD-51AB-4C80-8796-4FD64163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84238-8EB2-44CA-A94F-326D0F9A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QueryCraft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AB543-97FF-480B-9C30-43B061F4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F9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F9FC"/>
                </a:solidFill>
                <a:latin typeface="Arial"/>
                <a:ea typeface="Arial"/>
                <a:cs typeface="Arial"/>
              </a:rPr>
              <a:t>A Rule-Based Natural Language to SQL Compiler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4956D-BDBD-4F8D-A563-3AFBF89F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Compiler Design Laboratory | Phase 1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D8BF1-B9BC-414B-B446-E574FA35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ASHWIN RAAJ K E</a:t>
            </a:r>
          </a:p>
          <a:p xmlns:a="http://schemas.openxmlformats.org/drawingml/2006/main">
            <a:pPr>
              <a:defRPr sz="1650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BCSE307P</a:t>
            </a:r>
          </a:p>
        </p:txBody>
      </p:sp>
    </p:spTree>
    <p:extLst>
      <p:ext uri="{BB962C8B-B14F-4D97-AF65-F5344CB8AC3E}">
        <p14:creationId xmlns:p14="http://schemas.microsoft.com/office/powerpoint/2010/main" val="1354520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17BBF-2A8E-455C-943D-656729DB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Problem statement and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1232D-D60B-4358-852B-FD2BE709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4B2F3-5AE7-4A74-9E35-7FB75A89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BCD18-B880-4C62-94B0-53DF8CED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FAE30-39D7-4247-A91B-DC031434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SQL requires users to know a formal query syntax.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ED9B5-F2CC-4B92-9999-C3FF39BD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0367D-BBB5-4DDD-94CF-A95F93FD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QueryCraft accepts a small, defined English-like query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F36B8-269C-4D0B-B07D-26F784EF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DB6F6-B020-456C-8D8F-79B7B317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The system translates the query through explicit compiler stages into SQL.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52C3C-C48D-4898-B68C-1F238D1D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C1445-83AF-4C1C-B92E-09D78C2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The focus is transparency, testability, and explainable errors.</a:t>
            </a:r>
          </a:p>
        </p:txBody>
      </p:sp>
    </p:spTree>
    <p:extLst>
      <p:ext uri="{BB962C8B-B14F-4D97-AF65-F5344CB8AC3E}">
        <p14:creationId xmlns:p14="http://schemas.microsoft.com/office/powerpoint/2010/main" val="227704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58F14-357D-4A49-8E10-4100F3C9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Phase 1 objectives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2BE60-81EA-4E90-98C6-553875F2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0F36C-F3C5-41AD-A703-08D02A6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49125-F9A5-46D5-A680-265715E1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546C2-D143-4F1D-BC8A-06ED6724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Define tokens, grammar rules, syntax forms, and semantic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C8AAF-372F-49C4-9313-82889186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C2337-D89D-4891-AC21-BDC92A6B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Build a working prototype for one predefined students schema.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34E47-A466-4B89-9901-64391EFD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DAADC-93AC-41F8-B8CE-9A1C087E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Generate SELECT-style SQL with conditions, ordering, limits, and COUNT.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0DAFD-9ECF-4AF8-BEC9-72F4FC92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9FDC2-18E4-4268-BAA0-9A48A508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Exclude joins, subqueries, arbitrary databases, and conversational language.</a:t>
            </a:r>
          </a:p>
        </p:txBody>
      </p:sp>
    </p:spTree>
    <p:extLst>
      <p:ext uri="{BB962C8B-B14F-4D97-AF65-F5344CB8AC3E}">
        <p14:creationId xmlns:p14="http://schemas.microsoft.com/office/powerpoint/2010/main" val="2009263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6F42F-7C9B-4F3A-B85C-B2BAB488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Compiler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82B2E-0498-4B8D-B411-67A64B1C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D6523-1E3F-4199-A51E-DBAC41E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E51AC-499B-42CF-B7AC-99C5A613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6F8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Source 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DD3C3-FEB3-4311-A686-C060E606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D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D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EBD5A-58F7-4166-AF38-68D20ACE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6F8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Lexer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CE264-CE09-4164-89F4-BA0F5AA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D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D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649F9-D7B4-471F-A2B3-F62A52A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6F8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Parser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030C2-8D7E-4D32-91F8-E7422E87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D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D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A5857-3D3D-45CC-88B1-218A501C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AST / 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7E1BE-6AA3-4B24-B8F5-FE535A4B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D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D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22A5E-99D1-4E19-ACFA-8D2B67FB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6F8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Semantic analyzer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4F553-8E73-49D8-A095-D29DE127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D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D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A0CB1-F80D-4A77-AE14-FC7E9BC0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6F8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SQL generator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4695D-2522-40C1-BA5E-EA6968C0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D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D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578B8-CD94-44A4-9208-DDE6F33E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6F8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SQL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2748A-2BDE-4C08-A0CC-BA8D5359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44D"/>
                </a:solidFill>
                <a:latin typeface="Arial"/>
                <a:ea typeface="Arial"/>
                <a:cs typeface="Arial"/>
              </a:rPr>
              <a:t>Symbol table / schema validation: students(student_id, name, department, cgpa, age)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43E47-D913-4ED2-B7B5-1F204BB1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7080"/>
                </a:solidFill>
                <a:latin typeface="Arial"/>
                <a:ea typeface="Arial"/>
                <a:cs typeface="Arial"/>
              </a:rPr>
              <a:t>Error handler reports lexical, syntax, and semantic diagnostics at the appropriate stage.</a:t>
            </a:r>
          </a:p>
        </p:txBody>
      </p:sp>
    </p:spTree>
    <p:extLst>
      <p:ext uri="{BB962C8B-B14F-4D97-AF65-F5344CB8AC3E}">
        <p14:creationId xmlns:p14="http://schemas.microsoft.com/office/powerpoint/2010/main" val="10111177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F348A-D627-4AF5-9D69-A73D6FB9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Controlled language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35673-E718-499C-A939-DF4EA43F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5299B-CF0E-4A92-B019-5CEE1B93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5AE82-84A5-443D-87D0-F3DEABFB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FCC33-F943-4BDB-B4EB-C8C56E5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Actions: show, display, list, 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4DF3B-4219-49E0-8479-BF01D3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D053E-22C6-4B6D-A73B-6957E308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Entities and attributes: student(s), name, department, cgpa, age, student_id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FCF1F-CF05-4560-B0D2-7EE39D1E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9126E-1464-4B45-A2E1-C9EB1840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Comparisons: &gt;, &lt;, &gt;=, &lt;=, =, !=, greater than, less than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2AD8B-8E5B-41D1-9060-41D14C31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6E9C2-65B4-4186-9EB8-5F197B6E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Controls: and, or, ordered by, ascending, descending, top, 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DF9F3-DDAD-4C7B-BA83-51C24332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7080"/>
                </a:solidFill>
                <a:latin typeface="Arial"/>
                <a:ea typeface="Arial"/>
                <a:cs typeface="Arial"/>
              </a:rPr>
              <a:t>Example grammar: query = selection | count; condition = attribute comparison value; ordering = ordered by attribute [ascending | descending]</a:t>
            </a:r>
          </a:p>
        </p:txBody>
      </p:sp>
    </p:spTree>
    <p:extLst>
      <p:ext uri="{BB962C8B-B14F-4D97-AF65-F5344CB8AC3E}">
        <p14:creationId xmlns:p14="http://schemas.microsoft.com/office/powerpoint/2010/main" val="1612573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1B296-525D-467D-9A84-ED3B8D72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AST / intermediate representation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38463-38CC-46C7-82A6-7E1EA152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10BB8-8CE3-459D-A3D0-DFE89DA2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3CAB6-5C3B-47D4-A196-D3923065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Input: Show students whose CGPA is greater than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AC1D0-BDCE-4284-B889-7A34C22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98557-DE09-48D8-9843-A9927590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  projection: 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2837D-10E5-4BBB-B8BD-113457FC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  source: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F2D4C-9FA4-4FDB-99E1-B97ADF59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  condition: cgpa &gt;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A27C4-7645-475B-A9E7-9FC2FD1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  order_by: none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EE0EB-EFC6-4230-AA4D-32F2B5BF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  limit: none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87695-DF7F-4734-B813-E858497F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7080"/>
                </a:solidFill>
                <a:latin typeface="Arial"/>
                <a:ea typeface="Arial"/>
                <a:cs typeface="Arial"/>
              </a:rPr>
              <a:t>The SQL generator reads this structured representation. It does not use pre-written SQL for full sentences.</a:t>
            </a:r>
          </a:p>
        </p:txBody>
      </p:sp>
    </p:spTree>
    <p:extLst>
      <p:ext uri="{BB962C8B-B14F-4D97-AF65-F5344CB8AC3E}">
        <p14:creationId xmlns:p14="http://schemas.microsoft.com/office/powerpoint/2010/main" val="1822580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A633F-3670-480B-965B-FD537F97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Semantic analysis and error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135CA-851B-49B0-908D-2468C4E8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95251-201F-406F-AF57-90038356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234CE-BBF4-4C9F-A0F7-9833F0CF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6058F-5DCB-4162-96D4-6BE60270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Symbol table validates students and its five attributes with types.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DD769-7826-473D-A018-3FB74F1F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7E876-5CFE-41E7-A909-4C489DD3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Numeric attributes accept numeric values. Text attributes accept equality comparisons.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51BD6-5572-4E46-876C-EDA650E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68E7F-A4BB-4F4C-8ABD-78F2D22A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Lexical error: unrecognized character, for example @.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E1609-162B-4098-8572-FBB15BBC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0B491-5E0F-4F48-9076-9350126C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Syntax error: missing value after a comparison.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51254-3860-4D9E-BBDA-094084DA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C2558-2699-413B-838C-24DE94CF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385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Semantic error: unknown attribute salary or text value for numeric cgpa.</a:t>
            </a:r>
          </a:p>
        </p:txBody>
      </p:sp>
    </p:spTree>
    <p:extLst>
      <p:ext uri="{BB962C8B-B14F-4D97-AF65-F5344CB8AC3E}">
        <p14:creationId xmlns:p14="http://schemas.microsoft.com/office/powerpoint/2010/main" val="271424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78C26-43E5-4EB8-B1D5-32347F16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Initial prototype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C49F8-9D10-427A-8539-27D64E0D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DC367-DD34-4D1F-B872-C121A3F3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4AB86-6E4B-4DB7-A0C6-C8EED422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8D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8DA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D131D-E5D1-4366-A692-F129164F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Show top 5 students by CGPA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CCFE1-518F-484A-B72B-FE3F952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8D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8DA0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AE0CC-7CB5-4A41-8F3C-EF92DA6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907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ACTION(show), TOP(top), NUMBER(5), ENTITY(students), BY(by), ATTRIBUTE(cgpa)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80D53-CC87-4D14-A193-BB56E657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1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8D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8DA0"/>
                </a:solidFill>
                <a:latin typeface="Arial"/>
                <a:ea typeface="Arial"/>
                <a:cs typeface="Arial"/>
              </a:rPr>
              <a:t>Generated 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A12CF-09C9-4647-B666-C685FE10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623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SELECT * FROM students ORDER BY cgpa DESC LIMIT 5;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205EA-EE72-4620-82F8-E1035604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47080"/>
                </a:solidFill>
                <a:latin typeface="Arial"/>
                <a:ea typeface="Arial"/>
                <a:cs typeface="Arial"/>
              </a:rPr>
              <a:t>The command-line prototype prints tokens, AST/IR, semantic-validation status, and SQL.</a:t>
            </a:r>
          </a:p>
        </p:txBody>
      </p:sp>
    </p:spTree>
    <p:extLst>
      <p:ext uri="{BB962C8B-B14F-4D97-AF65-F5344CB8AC3E}">
        <p14:creationId xmlns:p14="http://schemas.microsoft.com/office/powerpoint/2010/main" val="1196567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8D01D-ED22-46E8-B302-08785F62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Prototype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3D46A-FE2B-48AF-9D6A-A98646A6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618B3-6769-4007-A29F-0002AF28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49994-596F-4B33-AC80-D826C873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53306-1D8B-4435-B774-85349F3D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13 automated Phase 1 tests passed.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FA69F-F36E-480D-9386-567A8CD4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91A0C-6327-4D43-B2F8-C45A9920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Valid cases cover projection, condition, department filter, ordering, top, count, and 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EF2F9-4EFA-4B32-A016-AE19784F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D2B7F-0B69-453A-88FF-A8FCFFB0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Invalid cases cover lexical, syntax, semantic, and unsupported-query errors.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6A3C2-9813-413E-B0CD-DAFEADD0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8B3C6-2B81-492D-A8A0-F62291DB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Example error: Show students where salary greater than 10 returns Unknown attribute 'salary'.</a:t>
            </a:r>
          </a:p>
        </p:txBody>
      </p:sp>
    </p:spTree>
    <p:extLst>
      <p:ext uri="{BB962C8B-B14F-4D97-AF65-F5344CB8AC3E}">
        <p14:creationId xmlns:p14="http://schemas.microsoft.com/office/powerpoint/2010/main" val="1932745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A9685-771C-42EF-9E44-53EEED1B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Innovation, feasibility,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8FCB8-6CE1-4101-8995-19725AA0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78BBF-BE33-487F-89A0-67E4EC6A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4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5263D-D33D-4DE2-9701-3B8F9243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D74B8-9FD0-4E6C-890C-7374A0F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Innovation: a transparent controlled-language SQL compiler for teaching compiler stages.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493E9-6BF1-40C0-960A-ADC650B4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20EB9-A621-48FE-84D0-FDC83C66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Schema-aware validation and human-readable diagnostics make internal processing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D62D1-94AD-46FE-8ABE-C633CAF0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AD512-BFC4-4729-A2A9-58B13704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The prototype uses modular Python files and only standard-library components.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D843C-2AC2-4592-97E1-5B2733FF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A3238-1464-4940-92E6-E5D98A2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4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44D"/>
                </a:solidFill>
                <a:latin typeface="Arial"/>
                <a:ea typeface="Arial"/>
                <a:cs typeface="Arial"/>
              </a:rPr>
              <a:t>Phase 2 can extend grammar, AST visualization, SQLite execution, and richer conditions.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8D1F7-4E03-492C-A723-E30B095C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Phase 1 status: system design complete and initial compiler pipeline verified.</a:t>
            </a:r>
          </a:p>
        </p:txBody>
      </p:sp>
    </p:spTree>
    <p:extLst>
      <p:ext uri="{BB962C8B-B14F-4D97-AF65-F5344CB8AC3E}">
        <p14:creationId xmlns:p14="http://schemas.microsoft.com/office/powerpoint/2010/main" val="1885998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2026-09-18T11:52:53.3930000Z</dcterms:created>
  <dcterms:modified xsi:type="dcterms:W3CDTF">2026-09-18T11:52:53.3930000Z</dcterms:modified>
</coreProperties>
</file>